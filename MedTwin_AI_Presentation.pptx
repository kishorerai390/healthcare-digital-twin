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560320"/>
          </a:xfrm>
          <a:prstGeom prst="rect">
            <a:avLst/>
          </a:prstGeom>
          <a:solidFill>
            <a:srgbClr val="0F2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MedTwin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7DD3FC"/>
                </a:solidFill>
              </a:rPr>
              <a:t>Healthcare Digital Twin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1274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3C5FD"/>
                </a:solidFill>
              </a:rPr>
              <a:t>AI-Powered Predictive Healthcare &amp; Longevity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724912"/>
            <a:ext cx="3749039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724912"/>
            <a:ext cx="3749039" cy="6400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749808" cy="384048"/>
          </a:xfrm>
          <a:prstGeom prst="rect">
            <a:avLst/>
          </a:prstGeom>
          <a:solidFill>
            <a:srgbClr val="2363EB"/>
          </a:solidFill>
          <a:ln w="9525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" y="292608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9923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63EB"/>
                </a:solidFill>
              </a:rPr>
              <a:t>3D Holographic Digital Twin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724912"/>
            <a:ext cx="3749039" cy="1325880"/>
          </a:xfrm>
          <a:prstGeom prst="rect">
            <a:avLst/>
          </a:prstGeom>
          <a:solidFill>
            <a:srgbClr val="F5F3FF"/>
          </a:solidFill>
          <a:ln w="12700">
            <a:solidFill>
              <a:srgbClr val="DCD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2724912"/>
            <a:ext cx="3749039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926080"/>
            <a:ext cx="749808" cy="38404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3" y="292608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799" y="299923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30s Voice Cardiac AI Scanner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2724912"/>
            <a:ext cx="3749039" cy="13258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2724912"/>
            <a:ext cx="3749039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2926080"/>
            <a:ext cx="749808" cy="384048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292608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99923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Diabetic Wound Vision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06240"/>
            <a:ext cx="3749039" cy="132588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206240"/>
            <a:ext cx="3749039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407407"/>
            <a:ext cx="749808" cy="384048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4407407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480559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5-Year Risk &amp; Longevity Engine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4206240"/>
            <a:ext cx="3749039" cy="1325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4206240"/>
            <a:ext cx="3749039" cy="64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4407407"/>
            <a:ext cx="749808" cy="384048"/>
          </a:xfrm>
          <a:prstGeom prst="rect">
            <a:avLst/>
          </a:prstGeom>
          <a:solidFill>
            <a:srgbClr val="4338CA"/>
          </a:solidFill>
          <a:ln w="952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3983" y="4407407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AI 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799" y="4480559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38CA"/>
                </a:solidFill>
              </a:rPr>
              <a:t>Live AI Doctor Consultation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4206240"/>
            <a:ext cx="3749039" cy="132588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4206240"/>
            <a:ext cx="3749039" cy="6400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0" y="4407407"/>
            <a:ext cx="749808" cy="384048"/>
          </a:xfrm>
          <a:prstGeom prst="rect">
            <a:avLst/>
          </a:prstGeom>
          <a:solidFill>
            <a:srgbClr val="0D9E8A"/>
          </a:solidFill>
          <a:ln w="9525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4407407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HIPAA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480559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E8A"/>
                </a:solidFill>
              </a:rPr>
              <a:t>HIPAA + 256-Bit AES Security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5760720"/>
            <a:ext cx="12188952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24728"/>
            <a:ext cx="12188952" cy="1033271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07024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Presented by  AD Phoenix   |   Hackathon 2026   |   Healthcare AI Innovation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364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63EB"/>
                </a:solidFill>
              </a:rPr>
              <a:t>Demo:  youtu.be/6EI3lnEVlb4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63642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</a:rPr>
              <a:t>* Prototype — NOT a medical diagnosis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MedTwin AI  |  Healthcare Digital Twin Studio  |  github.com/kishorerai390/healthcare-digital-twin  |  youtu.be/6EI3lnEVlb4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035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</a:rPr>
              <a:t>Healthcare is Broken &amp; Reactive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Patients seek help only after symptoms appear — the critical prevention window is entirely missed.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01952"/>
            <a:ext cx="1136599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011680"/>
            <a:ext cx="11365992" cy="768096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011680"/>
            <a:ext cx="64008" cy="7680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1.5 Billion+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176272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People globally suffer from non-communicable diseases — most go undetected until critical late stages.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98648"/>
            <a:ext cx="11365992" cy="768096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898648"/>
            <a:ext cx="64008" cy="7680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9008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Reactive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063240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Patients visit doctors only after symptoms appear; the preventive golden window is entirely missed.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85616"/>
            <a:ext cx="11365992" cy="768096"/>
          </a:xfrm>
          <a:prstGeom prst="rect">
            <a:avLst/>
          </a:prstGeom>
          <a:solidFill>
            <a:srgbClr val="F5F3FF"/>
          </a:solidFill>
          <a:ln w="10160">
            <a:solidFill>
              <a:srgbClr val="DCD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785616"/>
            <a:ext cx="64008" cy="7680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770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Access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950208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AI diagnostic tools are locked behind expensive hospital equipment and specialist appointments.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672584"/>
            <a:ext cx="11365992" cy="768096"/>
          </a:xfrm>
          <a:prstGeom prst="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672584"/>
            <a:ext cx="64008" cy="7680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764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Diabetic Wounds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837176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85% of diabetes-related limb amputations are preventable with early wound monitoring and AI.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559552"/>
            <a:ext cx="11365992" cy="768096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5559552"/>
            <a:ext cx="64008" cy="768096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6509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63EB"/>
                </a:solidFill>
              </a:rPr>
              <a:t>No Personal Twin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724144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Zero visibility into 5-year organ health trajectory without expensive clinical diagnostic testing.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MedTwin AI  |  Healthcare Digital Twin Studio  |  github.com/kishorerai390/healthcare-digital-twin  |  youtu.be/6EI3lnEVlb4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E8A"/>
                </a:solidFill>
              </a:rP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035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</a:rPr>
              <a:t>A Living Digital Twin of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Real-time AI-powered 3D virtual replica of your physiology — from any device, in any language.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01952"/>
            <a:ext cx="1136599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011680"/>
            <a:ext cx="3749039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011680"/>
            <a:ext cx="3749039" cy="6400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57984"/>
            <a:ext cx="566928" cy="502920"/>
          </a:xfrm>
          <a:prstGeom prst="rect">
            <a:avLst/>
          </a:prstGeom>
          <a:solidFill>
            <a:srgbClr val="2363EB"/>
          </a:solidFill>
          <a:ln w="9525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167128"/>
            <a:ext cx="548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762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Input Bio-Telemetry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743200"/>
            <a:ext cx="33832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834640"/>
            <a:ext cx="33832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Complete a 5-step guided vitals &amp; lifestyle wizard covering heart rate, blood pressure, glucose, SpO2 and medical history in under 2 minutes.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384048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2E8F0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011680"/>
            <a:ext cx="3749039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2011680"/>
            <a:ext cx="3749039" cy="6400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2157984"/>
            <a:ext cx="566928" cy="502920"/>
          </a:xfrm>
          <a:prstGeom prst="rect">
            <a:avLst/>
          </a:prstGeom>
          <a:solidFill>
            <a:srgbClr val="0D9E8A"/>
          </a:solidFill>
          <a:ln w="9525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2167128"/>
            <a:ext cx="548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1762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AI Physiology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743200"/>
            <a:ext cx="33832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834640"/>
            <a:ext cx="33832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Neural engines compute real-time organ health scores, voice frequency harmonics, and wound tissue healing rates with continuous recalibration.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384048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2E8F0"/>
                </a:solidFill>
              </a:rPr>
              <a:t>-&gt;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59" y="2011680"/>
            <a:ext cx="3749039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59" y="2011680"/>
            <a:ext cx="3749039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49639" y="2157984"/>
            <a:ext cx="566928" cy="50292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58784" y="2167128"/>
            <a:ext cx="548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39" y="21762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Predictive Insights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39" y="2743200"/>
            <a:ext cx="33832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39" y="2834640"/>
            <a:ext cx="33832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Receive 5-year multi-organ disease risk forecasts, biological age estimation, longevity score &amp; 1-click downloadable clinical PDF report.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492240"/>
            <a:ext cx="11365992" cy="201168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519672"/>
            <a:ext cx="111831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E8A"/>
                </a:solidFill>
              </a:rPr>
              <a:t>Takes &lt; 2 minutes   |   Any device   |   Any language   |   No hospital visit required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MedTwin AI  |  Healthcare Digital Twin Studio  |  github.com/kishorerai390/healthcare-digital-twin  |  youtu.be/6EI3lnEVlb4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63EB"/>
                </a:solidFill>
              </a:rPr>
              <a:t>FEATURE 01  |  3D HOLOGRAPHIC LIVING DIGITAL 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035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</a:rPr>
              <a:t>Real-Time Organ Physiology Avatar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Mapping cardiac rhythm, respiratory gas exchange, and neural alpha synchrony in real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01952"/>
            <a:ext cx="1136599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029968"/>
            <a:ext cx="56509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029968"/>
            <a:ext cx="5650992" cy="6400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212848"/>
            <a:ext cx="749808" cy="420624"/>
          </a:xfrm>
          <a:prstGeom prst="rect">
            <a:avLst/>
          </a:prstGeom>
          <a:solidFill>
            <a:srgbClr val="EFF6FF"/>
          </a:solidFill>
          <a:ln w="9525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63EB"/>
                </a:solidFill>
              </a:rPr>
              <a:t>VITALS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249424"/>
            <a:ext cx="44805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Live Vitals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2761488"/>
            <a:ext cx="5321807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Heart Rate, Blood Pressure, SpO2, Glucose &amp; Temperature with animated real-time ECG ticker.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029968"/>
            <a:ext cx="56509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029968"/>
            <a:ext cx="565099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3952" y="2212848"/>
            <a:ext cx="749808" cy="420624"/>
          </a:xfrm>
          <a:prstGeom prst="rect">
            <a:avLst/>
          </a:prstGeom>
          <a:solidFill>
            <a:srgbClr val="F5F3FF"/>
          </a:solidFill>
          <a:ln w="9525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</a:rPr>
              <a:t>ORGANS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249424"/>
            <a:ext cx="44805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Organ Health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761488"/>
            <a:ext cx="5321807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AI-computed health scores for cardiac, pulmonary, metabolic and neural systems — recalibrated live.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270248"/>
            <a:ext cx="56509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270248"/>
            <a:ext cx="5650992" cy="6400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" y="4453128"/>
            <a:ext cx="749808" cy="420624"/>
          </a:xfrm>
          <a:prstGeom prst="rect">
            <a:avLst/>
          </a:prstGeom>
          <a:solidFill>
            <a:srgbClr val="F0FDFA"/>
          </a:solidFill>
          <a:ln w="9525"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445312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E8A"/>
                </a:solidFill>
              </a:rPr>
              <a:t>WEAR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489704"/>
            <a:ext cx="44805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Wearable Device 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5001768"/>
            <a:ext cx="5321807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Seamless integration for wearable device data streams, fitness trackers and IoT health sensors.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270248"/>
            <a:ext cx="56509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270248"/>
            <a:ext cx="565099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73952" y="4453128"/>
            <a:ext cx="749808" cy="420624"/>
          </a:xfrm>
          <a:prstGeom prst="rect">
            <a:avLst/>
          </a:prstGeom>
          <a:solidFill>
            <a:srgbClr val="FFFBEB"/>
          </a:solidFill>
          <a:ln w="9525">
            <a:solidFill>
              <a:srgbClr val="FFF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45312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BIOAGE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489704"/>
            <a:ext cx="44805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Biological Age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5001768"/>
            <a:ext cx="5321807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Computes biological organ age vs chronological age using multi-parameter physiological regression.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MedTwin AI  |  Healthcare Digital Twin Studio  |  github.com/kishorerai390/healthcare-digital-twin  |  youtu.be/6EI3lnEVlb4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FEATURE 02  |  30-SECOND ACOUSTIC VOICE CARDIAC 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035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</a:rPr>
              <a:t>Non-Invasive Cardiac Risk Screening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Record 30 seconds of speech in any language. Zero hardware. Instant cardiac risk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01952"/>
            <a:ext cx="1136599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029968"/>
            <a:ext cx="3749039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029968"/>
            <a:ext cx="3749039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212848"/>
            <a:ext cx="749808" cy="420624"/>
          </a:xfrm>
          <a:prstGeom prst="rect">
            <a:avLst/>
          </a:prstGeom>
          <a:solidFill>
            <a:srgbClr val="F5F3FF"/>
          </a:solidFill>
          <a:ln w="9525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</a:rPr>
              <a:t>JITTER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249424"/>
            <a:ext cx="25786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Acoustic Jitter &amp; Shimmer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2761488"/>
            <a:ext cx="3419856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Measures vocal fold micro-tremors and acoustic irregularities correlated with cardiac arrhythmia and coronary ischemia.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029968"/>
            <a:ext cx="3749039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029968"/>
            <a:ext cx="3749039" cy="6400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53712" y="2212848"/>
            <a:ext cx="749808" cy="420624"/>
          </a:xfrm>
          <a:prstGeom prst="rect">
            <a:avLst/>
          </a:prstGeom>
          <a:solidFill>
            <a:srgbClr val="EFF6FF"/>
          </a:solidFill>
          <a:ln w="9525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63EB"/>
                </a:solidFill>
              </a:rPr>
              <a:t>FREQ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249424"/>
            <a:ext cx="25786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Fundamental 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761488"/>
            <a:ext cx="3419856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Analyzes subglottic pressure harmonics and vocal frequency stability as pulmonary and cardiovascular health markers.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59" y="2029968"/>
            <a:ext cx="3749039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59" y="2029968"/>
            <a:ext cx="3749039" cy="6400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31351" y="2212848"/>
            <a:ext cx="749808" cy="420624"/>
          </a:xfrm>
          <a:prstGeom prst="rect">
            <a:avLst/>
          </a:prstGeom>
          <a:solidFill>
            <a:srgbClr val="F0FDFA"/>
          </a:solidFill>
          <a:ln w="9525"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5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E8A"/>
                </a:solidFill>
              </a:rPr>
              <a:t>SPO2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599" y="2249424"/>
            <a:ext cx="25786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Oxygenation Marker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1" y="2761488"/>
            <a:ext cx="3419856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Vocal fold perfusion analysis to acoustically estimate peripheral SpO2 oxygenation levels — completely non-invasive.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089904"/>
            <a:ext cx="11365992" cy="411480"/>
          </a:xfrm>
          <a:prstGeom prst="rect">
            <a:avLst/>
          </a:prstGeom>
          <a:solidFill>
            <a:srgbClr val="F5F3FF"/>
          </a:solidFill>
          <a:ln w="9525">
            <a:solidFill>
              <a:srgbClr val="DCD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1630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Duration: 30 Seconds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61630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363EB"/>
                </a:solidFill>
              </a:rPr>
              <a:t>Language: Auto-Detect Any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61630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</a:rPr>
              <a:t>Hardware: None Required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61630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</a:rPr>
              <a:t>Standard: HIPAA Compliant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MedTwin AI  |  Healthcare Digital Twin Studio  |  github.com/kishorerai390/healthcare-digital-twin  |  youtu.be/6EI3lnEVlb4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FEATURE 03  |  DIABETIC WOUND VISION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035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</a:rPr>
              <a:t>Computer Vision Wound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Upload daily wound photos for AI image segmentation — clinical-grade healing tracking at home.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01952"/>
            <a:ext cx="1136599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029968"/>
            <a:ext cx="56509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029968"/>
            <a:ext cx="565099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212848"/>
            <a:ext cx="749808" cy="420624"/>
          </a:xfrm>
          <a:prstGeom prst="rect">
            <a:avLst/>
          </a:prstGeom>
          <a:solidFill>
            <a:srgbClr val="ECFDF5"/>
          </a:solidFill>
          <a:ln w="9525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</a:rPr>
              <a:t>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249424"/>
            <a:ext cx="44805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Surface Area Measurement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2761488"/>
            <a:ext cx="5321807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Computer vision calculates exact wound area in cm2 and tracks daily healing reduction velocity.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029968"/>
            <a:ext cx="56509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029968"/>
            <a:ext cx="5650992" cy="6400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3952" y="2212848"/>
            <a:ext cx="749808" cy="420624"/>
          </a:xfrm>
          <a:prstGeom prst="rect">
            <a:avLst/>
          </a:prstGeom>
          <a:solidFill>
            <a:srgbClr val="F0FDFA"/>
          </a:solidFill>
          <a:ln w="9525"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E8A"/>
                </a:solidFill>
              </a:rPr>
              <a:t>TISSUE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249424"/>
            <a:ext cx="44805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Granulation Tissue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761488"/>
            <a:ext cx="5321807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Classifies tissue into granulation, epithelial, necrotic &amp; slough types with healing stage prediction.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270248"/>
            <a:ext cx="56509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270248"/>
            <a:ext cx="5650992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" y="4453128"/>
            <a:ext cx="749808" cy="420624"/>
          </a:xfrm>
          <a:prstGeom prst="rect">
            <a:avLst/>
          </a:prstGeom>
          <a:solidFill>
            <a:srgbClr val="FEF2F2"/>
          </a:solidFill>
          <a:ln w="9525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445312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INFECT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489704"/>
            <a:ext cx="44805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Infection Risk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5001768"/>
            <a:ext cx="5321807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Detects perilesional erythema and escalating infection probability via wound color spectrum analysis.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270248"/>
            <a:ext cx="56509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270248"/>
            <a:ext cx="5650992" cy="6400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73952" y="4453128"/>
            <a:ext cx="749808" cy="420624"/>
          </a:xfrm>
          <a:prstGeom prst="rect">
            <a:avLst/>
          </a:prstGeom>
          <a:solidFill>
            <a:srgbClr val="EFF6FF"/>
          </a:solidFill>
          <a:ln w="9525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45312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63EB"/>
                </a:solidFill>
              </a:rPr>
              <a:t>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489704"/>
            <a:ext cx="44805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Healing Timeline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5001768"/>
            <a:ext cx="5321807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Day-by-day wound history with AI clinical verdict, care recommendations and comparison charting.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MedTwin AI  |  Healthcare Digital Twin Studio  |  github.com/kishorerai390/healthcare-digital-twin  |  youtu.be/6EI3lnEVlb4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FEATURE 04  |  5-YEAR PREVENTIVE RISK &amp; LONGEVITY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035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</a:rPr>
              <a:t>Predictive ML Disease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Multi-organ risk probability, biological age estimation &amp; downloadable clinical PDF lab requisitions.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01952"/>
            <a:ext cx="1136599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029968"/>
            <a:ext cx="3749039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029968"/>
            <a:ext cx="3749039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212848"/>
            <a:ext cx="749808" cy="420624"/>
          </a:xfrm>
          <a:prstGeom prst="rect">
            <a:avLst/>
          </a:prstGeom>
          <a:solidFill>
            <a:srgbClr val="FFFBEB"/>
          </a:solidFill>
          <a:ln w="9525">
            <a:solidFill>
              <a:srgbClr val="FFF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249424"/>
            <a:ext cx="25786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Disease Risk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2761488"/>
            <a:ext cx="3419856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5 and 10-year cardiovascular, metabolic and neurological disease probability with per-organ breakdown.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029968"/>
            <a:ext cx="3749039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029968"/>
            <a:ext cx="3749039" cy="6400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53712" y="2212848"/>
            <a:ext cx="749808" cy="420624"/>
          </a:xfrm>
          <a:prstGeom prst="rect">
            <a:avLst/>
          </a:prstGeom>
          <a:solidFill>
            <a:srgbClr val="EFF6FF"/>
          </a:solidFill>
          <a:ln w="9525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63EB"/>
                </a:solidFill>
              </a:rPr>
              <a:t>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249424"/>
            <a:ext cx="25786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Longevity Simulator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761488"/>
            <a:ext cx="3419856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Interactive time slider showing health score improvements from exercise, diet and sleep interventions.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59" y="2029968"/>
            <a:ext cx="3749039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59" y="2029968"/>
            <a:ext cx="3749039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31351" y="2212848"/>
            <a:ext cx="749808" cy="420624"/>
          </a:xfrm>
          <a:prstGeom prst="rect">
            <a:avLst/>
          </a:prstGeom>
          <a:solidFill>
            <a:srgbClr val="ECFDF5"/>
          </a:solidFill>
          <a:ln w="9525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5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</a:rPr>
              <a:t>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599" y="2249424"/>
            <a:ext cx="25786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Clinical PDF Generator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1" y="2761488"/>
            <a:ext cx="3419856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One-click downloadable lab requisition form for physician review and clinical workflow integration.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089904"/>
            <a:ext cx="11365992" cy="41148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1630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</a:rPr>
              <a:t>Horizon: 5 &amp; 10 Years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61630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363EB"/>
                </a:solidFill>
              </a:rPr>
              <a:t>Systems: Cardio, Metabolic, Neural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61630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</a:rPr>
              <a:t>Export: Clinical PDF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61630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Engine: Biological Age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MedTwin AI  |  Healthcare Digital Twin Studio  |  github.com/kishorerai390/healthcare-digital-twin  |  youtu.be/6EI3lnEVlb4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COMPLETE PLATFORM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035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</a:rPr>
              <a:t>Full Healthcare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A complete suite of AI-powered tools for holistic, proactive and preventive digital health management.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01952"/>
            <a:ext cx="1136599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029968"/>
            <a:ext cx="37490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029968"/>
            <a:ext cx="3749039" cy="64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212848"/>
            <a:ext cx="749808" cy="420624"/>
          </a:xfrm>
          <a:prstGeom prst="rect">
            <a:avLst/>
          </a:prstGeom>
          <a:solidFill>
            <a:srgbClr val="EEF2FF"/>
          </a:solidFill>
          <a:ln w="9525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338CA"/>
                </a:solidFill>
              </a:rPr>
              <a:t>AI 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249424"/>
            <a:ext cx="25786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Live AI Doctor Consultation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2761488"/>
            <a:ext cx="341985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Voice &amp; text AI specialist doctors with speech synthesis readout and real-time medical auto-correction.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029968"/>
            <a:ext cx="37490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029968"/>
            <a:ext cx="3749039" cy="6400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53712" y="2212848"/>
            <a:ext cx="749808" cy="420624"/>
          </a:xfrm>
          <a:prstGeom prst="rect">
            <a:avLst/>
          </a:prstGeom>
          <a:solidFill>
            <a:srgbClr val="EFF6FF"/>
          </a:solidFill>
          <a:ln w="9525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63EB"/>
                </a:solidFill>
              </a:rPr>
              <a:t>MED RX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249424"/>
            <a:ext cx="25786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Medicine Scanner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761488"/>
            <a:ext cx="341985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Scan medicines for interactions, dosage schedules, danger levels and auto-sync with Digital Twin profile.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59" y="2029968"/>
            <a:ext cx="37490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59" y="2029968"/>
            <a:ext cx="3749039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31351" y="2212848"/>
            <a:ext cx="749808" cy="420624"/>
          </a:xfrm>
          <a:prstGeom prst="rect">
            <a:avLst/>
          </a:prstGeom>
          <a:solidFill>
            <a:srgbClr val="FFFBEB"/>
          </a:solidFill>
          <a:ln w="9525">
            <a:solidFill>
              <a:srgbClr val="FFF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5" y="221284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ALERT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599" y="2249424"/>
            <a:ext cx="25786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Guardian Alert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1" y="2761488"/>
            <a:ext cx="341985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Emergency notifications sent to guardian contacts when critical health thresholds are breached.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270248"/>
            <a:ext cx="37490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270248"/>
            <a:ext cx="3749039" cy="6400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72" y="4453128"/>
            <a:ext cx="749808" cy="420624"/>
          </a:xfrm>
          <a:prstGeom prst="rect">
            <a:avLst/>
          </a:prstGeom>
          <a:solidFill>
            <a:srgbClr val="F0FDFA"/>
          </a:solidFill>
          <a:ln w="9525"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445312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E8A"/>
                </a:solidFill>
              </a:rPr>
              <a:t>LANG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489704"/>
            <a:ext cx="25786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Multilingual AI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5001768"/>
            <a:ext cx="341985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Auto-detect any language for voice cardiac scanning and full UI localization across all features.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270248"/>
            <a:ext cx="37490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4270248"/>
            <a:ext cx="3749039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53712" y="4453128"/>
            <a:ext cx="749808" cy="420624"/>
          </a:xfrm>
          <a:prstGeom prst="rect">
            <a:avLst/>
          </a:prstGeom>
          <a:solidFill>
            <a:srgbClr val="ECFDF5"/>
          </a:solidFill>
          <a:ln w="9525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62856" y="445312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</a:rPr>
              <a:t>HIPAA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489704"/>
            <a:ext cx="25786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256-Bit AES HIPAA Vault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5001768"/>
            <a:ext cx="341985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All biometric records encrypted locally. Zero third-party data sharing. Full data portability.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59" y="4270248"/>
            <a:ext cx="37490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66759" y="4270248"/>
            <a:ext cx="3749039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31351" y="4453128"/>
            <a:ext cx="749808" cy="420624"/>
          </a:xfrm>
          <a:prstGeom prst="rect">
            <a:avLst/>
          </a:prstGeom>
          <a:solidFill>
            <a:srgbClr val="F5F3FF"/>
          </a:solidFill>
          <a:ln w="9525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0495" y="445312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</a:rPr>
              <a:t>MOBILE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599" y="4489704"/>
            <a:ext cx="25786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Mobile Responsive 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31351" y="5001768"/>
            <a:ext cx="341985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Fully responsive with dedicated mobile navigation drawer and optimized mobile vitals grid.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MedTwin AI  |  Healthcare Digital Twin Studio  |  github.com/kishorerai390/healthcare-digital-twin  |  youtu.be/6EI3lnEVlb4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E8A"/>
                </a:solidFill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035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</a:rPr>
              <a:t>Built with Modern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Modular, scalable architecture ready for real clinical AI models, wearable APIs and EHR integration.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01952"/>
            <a:ext cx="1136599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029968"/>
            <a:ext cx="3749039" cy="4434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029968"/>
            <a:ext cx="3749039" cy="6400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21408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63EB"/>
                </a:solidFill>
              </a:rPr>
              <a:t>FRONTEND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96896"/>
            <a:ext cx="3383280" cy="10972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688336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React 18 + Vite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310128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6499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Tailwind CSS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31920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86784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Framer Motion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553712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0857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Recharts (Charts)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175504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React Router v6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797296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Lucide Icons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029968"/>
            <a:ext cx="3749039" cy="44348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2029968"/>
            <a:ext cx="3749039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2121408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BACKEND &amp; AUTH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596896"/>
            <a:ext cx="3383280" cy="10972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2688336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274320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Firebase Authentication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310128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336499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Cloud Firestore DB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931920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3986784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256-Bit AES Local Storage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4553712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460857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React Context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5175504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523036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Environment Config (.env)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59" y="2029968"/>
            <a:ext cx="3749039" cy="4434840"/>
          </a:xfrm>
          <a:prstGeom prst="rect">
            <a:avLst/>
          </a:prstGeom>
          <a:solidFill>
            <a:srgbClr val="F5F3FF"/>
          </a:solidFill>
          <a:ln w="12700">
            <a:solidFill>
              <a:srgbClr val="DCD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66759" y="2029968"/>
            <a:ext cx="3749039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39" y="2121408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AI SERVICE LAYER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39" y="2596896"/>
            <a:ext cx="3383280" cy="10972"/>
          </a:xfrm>
          <a:prstGeom prst="rect">
            <a:avLst/>
          </a:prstGeom>
          <a:solidFill>
            <a:srgbClr val="DCD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49639" y="2688336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D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59" y="274320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Modular AI Service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39" y="3310128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D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59" y="336499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TF.js Model Ready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9639" y="3931920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D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59" y="3986784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Cloud ML Endpoint Ready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49639" y="4553712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D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59" y="460857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Voice Biomarker Engine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49639" y="5175504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D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59" y="523036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Computer Vision Pipeline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49639" y="5797296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D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59" y="585216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  &gt; PDF Report Generator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697480"/>
          </a:xfrm>
          <a:prstGeom prst="rect">
            <a:avLst/>
          </a:prstGeom>
          <a:solidFill>
            <a:srgbClr val="0F2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4574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The Future of Health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8BDF8"/>
                </a:solidFill>
              </a:rPr>
              <a:t>Personalized &amp; Proactive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10512"/>
            <a:ext cx="11457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3C5FD"/>
                </a:solidFill>
              </a:rPr>
              <a:t>MedTwin AI  |  Healthcare Digital Twin Studio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34640"/>
            <a:ext cx="3749039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834640"/>
            <a:ext cx="3749039" cy="6400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" y="3035808"/>
            <a:ext cx="749808" cy="365760"/>
          </a:xfrm>
          <a:prstGeom prst="rect">
            <a:avLst/>
          </a:prstGeom>
          <a:solidFill>
            <a:srgbClr val="2363EB"/>
          </a:solidFill>
          <a:ln w="9525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0358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30540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3D Digital Twin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3474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Live organ telemetry &amp; vitals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834640"/>
            <a:ext cx="3749039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CD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834640"/>
            <a:ext cx="3749039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35424" y="3035808"/>
            <a:ext cx="749808" cy="36576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0358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30540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Voice Cardiac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3474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30s acoustic risk screening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59" y="2834640"/>
            <a:ext cx="3749039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59" y="2834640"/>
            <a:ext cx="3749039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13063" y="3035808"/>
            <a:ext cx="749808" cy="365760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7" y="30358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1" y="30540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Wound Vision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1" y="3474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CV healing &amp; infection 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407408"/>
            <a:ext cx="3749039" cy="1417320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407408"/>
            <a:ext cx="3749039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7784" y="4608576"/>
            <a:ext cx="749808" cy="36576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6085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2686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5-Year Risk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9032" y="50474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ML forecast + clinical PDF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407408"/>
            <a:ext cx="3749039" cy="1417320"/>
          </a:xfrm>
          <a:prstGeom prst="rect">
            <a:avLst/>
          </a:prstGeom>
          <a:solidFill>
            <a:srgbClr val="EEF2FF"/>
          </a:solidFill>
          <a:ln w="1016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4407408"/>
            <a:ext cx="3749039" cy="64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35424" y="4608576"/>
            <a:ext cx="749808" cy="365760"/>
          </a:xfrm>
          <a:prstGeom prst="rect">
            <a:avLst/>
          </a:prstGeom>
          <a:solidFill>
            <a:srgbClr val="4338CA"/>
          </a:solidFill>
          <a:ln w="952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8" y="46085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AI 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6672" y="462686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AI Doctor Chat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6672" y="50474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Voice/text + speech synthesis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59" y="4407408"/>
            <a:ext cx="3749039" cy="1417320"/>
          </a:xfrm>
          <a:prstGeom prst="rect">
            <a:avLst/>
          </a:prstGeom>
          <a:solidFill>
            <a:srgbClr val="F0FDFA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59" y="4407408"/>
            <a:ext cx="3749039" cy="6400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13063" y="4608576"/>
            <a:ext cx="749808" cy="365760"/>
          </a:xfrm>
          <a:prstGeom prst="rect">
            <a:avLst/>
          </a:prstGeom>
          <a:solidFill>
            <a:srgbClr val="0D9E8A"/>
          </a:solidFill>
          <a:ln w="9525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22207" y="46085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HIPAA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1" y="462686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HIPAA + AES Vault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54311" y="50474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Encrypted. Zero sharing.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016752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126480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63EB"/>
                </a:solidFill>
              </a:rPr>
              <a:t>GitHub:  github.com/kishorerai390/healthcare-digital-twin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63EB"/>
                </a:solidFill>
              </a:rPr>
              <a:t>Demo:  youtu.be/6EI3lnEVlb4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6126480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172A"/>
                </a:solidFill>
              </a:rPr>
              <a:t>Presented by  AD Phoenix   |   Hackathon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647395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</a:rPr>
              <a:t>* Prototype — NOT a medical diagnosis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